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951415" y="6355080"/>
            <a:ext cx="2194560" cy="457200"/>
          </a:xfrm>
          <a:prstGeom prst="rect">
            <a:avLst/>
          </a:prstGeom>
          <a:solidFill>
            <a:srgbClr val="0B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0B101F">
              <a:alpha val="3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◆ 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200" b="1">
                <a:solidFill>
                  <a:srgbClr val="6E7896"/>
                </a:solidFill>
                <a:latin typeface="Microsoft YaHei"/>
                <a:ea typeface="Microsoft YaHei"/>
              </a:rPr>
              <a:t>PRODUCT LAUNCH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5054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4000" b="1">
                <a:solidFill>
                  <a:srgbClr val="F5F8FF"/>
                </a:solidFill>
                <a:latin typeface="Microsoft YaHei"/>
                <a:ea typeface="Microsoft YaHei"/>
              </a:rPr>
              <a:t>Nexora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822960" cy="54864"/>
          </a:xfrm>
          <a:prstGeom prst="rect">
            <a:avLst/>
          </a:prstGeom>
          <a:solidFill>
            <a:srgbClr val="2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636406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3000" b="1">
                <a:solidFill>
                  <a:srgbClr val="22E6FF"/>
                </a:solidFill>
                <a:latin typeface="Microsoft YaHei"/>
                <a:ea typeface="Microsoft YaHei"/>
              </a:rPr>
              <a:t>One Core, All 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636406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0">
                <a:solidFill>
                  <a:srgbClr val="9DA8C2"/>
                </a:solidFill>
                <a:latin typeface="Microsoft YaHei"/>
                <a:ea typeface="Microsoft YaHei"/>
              </a:rPr>
              <a:t>面向中小电商的一站式多租户 SaaS 管理平台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0"/>
            <a:ext cx="6364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100" b="0">
                <a:solidFill>
                  <a:srgbClr val="6E7896"/>
                </a:solidFill>
                <a:latin typeface="Microsoft YaHei"/>
                <a:ea typeface="Microsoft YaHei"/>
              </a:rPr>
              <a:t>李浩棋 · 全栈独立开发 ·  github.com/lihaoqi-13656117061/nexora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8383" y="1463040"/>
            <a:ext cx="42061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3200" b="1">
                <a:solidFill>
                  <a:srgbClr val="22E6FF"/>
                </a:solidFill>
                <a:latin typeface="Microsoft YaHei"/>
                <a:ea typeface="Microsoft YaHei"/>
              </a:rPr>
              <a:t>147</a:t>
            </a:r>
          </a:p>
          <a:p>
            <a:r>
              <a:rPr sz="1200" b="0">
                <a:solidFill>
                  <a:srgbClr val="9DA8C2"/>
                </a:solidFill>
                <a:latin typeface="Microsoft YaHei"/>
                <a:ea typeface="Microsoft YaHei"/>
              </a:rPr>
              <a:t>源码文件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8383" y="2423160"/>
            <a:ext cx="42061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3200" b="1">
                <a:solidFill>
                  <a:srgbClr val="22E6FF"/>
                </a:solidFill>
                <a:latin typeface="Microsoft YaHei"/>
                <a:ea typeface="Microsoft YaHei"/>
              </a:rPr>
              <a:t>28/28</a:t>
            </a:r>
          </a:p>
          <a:p>
            <a:r>
              <a:rPr sz="1200" b="0">
                <a:solidFill>
                  <a:srgbClr val="9DA8C2"/>
                </a:solidFill>
                <a:latin typeface="Microsoft YaHei"/>
                <a:ea typeface="Microsoft YaHei"/>
              </a:rPr>
              <a:t>测试通过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8383" y="3383280"/>
            <a:ext cx="42061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3200" b="1">
                <a:solidFill>
                  <a:srgbClr val="22E6FF"/>
                </a:solidFill>
                <a:latin typeface="Microsoft YaHei"/>
                <a:ea typeface="Microsoft YaHei"/>
              </a:rPr>
              <a:t>12</a:t>
            </a:r>
          </a:p>
          <a:p>
            <a:r>
              <a:rPr sz="1200" b="0">
                <a:solidFill>
                  <a:srgbClr val="9DA8C2"/>
                </a:solidFill>
                <a:latin typeface="Microsoft YaHei"/>
                <a:ea typeface="Microsoft YaHei"/>
              </a:rPr>
              <a:t>API 路由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8383" y="4343400"/>
            <a:ext cx="42061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3200" b="1">
                <a:solidFill>
                  <a:srgbClr val="22E6FF"/>
                </a:solidFill>
                <a:latin typeface="Microsoft YaHei"/>
                <a:ea typeface="Microsoft YaHei"/>
              </a:rPr>
              <a:t>20</a:t>
            </a:r>
          </a:p>
          <a:p>
            <a:r>
              <a:rPr sz="1200" b="0">
                <a:solidFill>
                  <a:srgbClr val="9DA8C2"/>
                </a:solidFill>
                <a:latin typeface="Microsoft YaHei"/>
                <a:ea typeface="Microsoft YaHei"/>
              </a:rPr>
              <a:t>前端页面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ain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951415" y="6355080"/>
            <a:ext cx="2194560" cy="457200"/>
          </a:xfrm>
          <a:prstGeom prst="rect">
            <a:avLst/>
          </a:prstGeom>
          <a:solidFill>
            <a:srgbClr val="0B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0B101F">
              <a:alpha val="3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◆ 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200" b="1">
                <a:solidFill>
                  <a:srgbClr val="6E7896"/>
                </a:solidFill>
                <a:latin typeface="Microsoft YaHei"/>
                <a:ea typeface="Microsoft YaHei"/>
              </a:rPr>
              <a:t>01 · 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5054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4000" b="1">
                <a:solidFill>
                  <a:srgbClr val="F5F8FF"/>
                </a:solidFill>
                <a:latin typeface="Microsoft YaHei"/>
                <a:ea typeface="Microsoft YaHei"/>
              </a:rPr>
              <a:t>中小商家的电商之痛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822960" cy="54864"/>
          </a:xfrm>
          <a:prstGeom prst="rect">
            <a:avLst/>
          </a:prstGeom>
          <a:solidFill>
            <a:srgbClr val="2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6364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22E6FF"/>
                </a:solidFill>
                <a:latin typeface="Microsoft YaHei"/>
                <a:ea typeface="Microsoft YaHei"/>
              </a:rPr>
              <a:t>▍ 多平台割裂</a:t>
            </a:r>
          </a:p>
          <a:p>
            <a:r>
              <a:rPr sz="1400" b="0">
                <a:solidFill>
                  <a:srgbClr val="F5F8FF"/>
                </a:solidFill>
                <a:latin typeface="Microsoft YaHei"/>
                <a:ea typeface="Microsoft YaHei"/>
              </a:rPr>
              <a:t>Shopify、抖音、淘宝…切换多个后台，
数据零散难统一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6364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22E6FF"/>
                </a:solidFill>
                <a:latin typeface="Microsoft YaHei"/>
                <a:ea typeface="Microsoft YaHei"/>
              </a:rPr>
              <a:t>▍ 数据孤岛</a:t>
            </a:r>
          </a:p>
          <a:p>
            <a:r>
              <a:rPr sz="1400" b="0">
                <a:solidFill>
                  <a:srgbClr val="F5F8FF"/>
                </a:solidFill>
                <a:latin typeface="Microsoft YaHei"/>
                <a:ea typeface="Microsoft YaHei"/>
              </a:rPr>
              <a:t>商品、订单、客户散落各处，
无法跨平台汇总分析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6364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22E6FF"/>
                </a:solidFill>
                <a:latin typeface="Microsoft YaHei"/>
                <a:ea typeface="Microsoft YaHei"/>
              </a:rPr>
              <a:t>▍ 管理低效</a:t>
            </a:r>
          </a:p>
          <a:p>
            <a:r>
              <a:rPr sz="1400" b="0">
                <a:solidFill>
                  <a:srgbClr val="F5F8FF"/>
                </a:solidFill>
                <a:latin typeface="Microsoft YaHei"/>
                <a:ea typeface="Microsoft YaHei"/>
              </a:rPr>
              <a:t>重复录入、人工对账、缺乏洞察，
被运营琐事淹没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6364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100" b="0">
                <a:solidFill>
                  <a:srgbClr val="6E7896"/>
                </a:solidFill>
                <a:latin typeface="Microsoft YaHei"/>
                <a:ea typeface="Microsoft YaHei"/>
              </a:rPr>
              <a:t>中小商家需要一个真正统一的后台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951415" y="6355080"/>
            <a:ext cx="2194560" cy="457200"/>
          </a:xfrm>
          <a:prstGeom prst="rect">
            <a:avLst/>
          </a:prstGeom>
          <a:solidFill>
            <a:srgbClr val="0B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0B101F">
              <a:alpha val="3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A06BFF"/>
                </a:solidFill>
                <a:latin typeface="Microsoft YaHei"/>
                <a:ea typeface="Microsoft YaHei"/>
              </a:rPr>
              <a:t>◆ 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200" b="1">
                <a:solidFill>
                  <a:srgbClr val="6E7896"/>
                </a:solidFill>
                <a:latin typeface="Microsoft YaHei"/>
                <a:ea typeface="Microsoft YaHei"/>
              </a:rPr>
              <a:t>02 · 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5054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4000" b="1">
                <a:solidFill>
                  <a:srgbClr val="F5F8FF"/>
                </a:solidFill>
                <a:latin typeface="Microsoft YaHei"/>
                <a:ea typeface="Microsoft YaHei"/>
              </a:rPr>
              <a:t>Nexora — 一个后台，统管全域电商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822960" cy="54864"/>
          </a:xfrm>
          <a:prstGeom prst="rect">
            <a:avLst/>
          </a:prstGeom>
          <a:solidFill>
            <a:srgbClr val="A0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6364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A06BFF"/>
                </a:solidFill>
                <a:latin typeface="Microsoft YaHei"/>
                <a:ea typeface="Microsoft YaHei"/>
              </a:rPr>
              <a:t>▍ 统一中枢</a:t>
            </a:r>
          </a:p>
          <a:p>
            <a:r>
              <a:rPr sz="1400" b="0">
                <a:solidFill>
                  <a:srgbClr val="F5F8FF"/>
                </a:solidFill>
                <a:latin typeface="Microsoft YaHei"/>
                <a:ea typeface="Microsoft YaHei"/>
              </a:rPr>
              <a:t>多租户工作空间，一个账号聚合所有店铺的
商品、订单、客户、AI 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6364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A06BFF"/>
                </a:solidFill>
                <a:latin typeface="Microsoft YaHei"/>
                <a:ea typeface="Microsoft YaHei"/>
              </a:rPr>
              <a:t>▍ 全链路覆盖</a:t>
            </a:r>
          </a:p>
          <a:p>
            <a:r>
              <a:rPr sz="1400" b="0">
                <a:solidFill>
                  <a:srgbClr val="F5F8FF"/>
                </a:solidFill>
                <a:latin typeface="Microsoft YaHei"/>
                <a:ea typeface="Microsoft YaHei"/>
              </a:rPr>
              <a:t>从商品上架、订单流转、客户 CRM 到数据
分析与 AI 赋能，端到端打通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6364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A06BFF"/>
                </a:solidFill>
                <a:latin typeface="Microsoft YaHei"/>
                <a:ea typeface="Microsoft YaHei"/>
              </a:rPr>
              <a:t>▍ 开箱即用</a:t>
            </a:r>
          </a:p>
          <a:p>
            <a:r>
              <a:rPr sz="1400" b="0">
                <a:solidFill>
                  <a:srgbClr val="F5F8FF"/>
                </a:solidFill>
                <a:latin typeface="Microsoft YaHei"/>
                <a:ea typeface="Microsoft YaHei"/>
              </a:rPr>
              <a:t>Docker 一键部署，演示数据秒级生成
完整业务场景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6364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100" b="0">
                <a:solidFill>
                  <a:srgbClr val="6E7896"/>
                </a:solidFill>
                <a:latin typeface="Microsoft YaHei"/>
                <a:ea typeface="Microsoft YaHei"/>
              </a:rPr>
              <a:t>不再切来切去 —— 一个后台就是全部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951415" y="6355080"/>
            <a:ext cx="2194560" cy="457200"/>
          </a:xfrm>
          <a:prstGeom prst="rect">
            <a:avLst/>
          </a:prstGeom>
          <a:solidFill>
            <a:srgbClr val="0B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0B101F">
              <a:alpha val="3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◆ 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200" b="1">
                <a:solidFill>
                  <a:srgbClr val="6E7896"/>
                </a:solidFill>
                <a:latin typeface="Microsoft YaHei"/>
                <a:ea typeface="Microsoft YaHei"/>
              </a:rPr>
              <a:t>03 · 核心功能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5054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4000" b="1">
                <a:solidFill>
                  <a:srgbClr val="F5F8FF"/>
                </a:solidFill>
                <a:latin typeface="Microsoft YaHei"/>
                <a:ea typeface="Microsoft YaHei"/>
              </a:rPr>
              <a:t>六大模块，一个工作台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822960" cy="54864"/>
          </a:xfrm>
          <a:prstGeom prst="rect">
            <a:avLst/>
          </a:prstGeom>
          <a:solidFill>
            <a:srgbClr val="2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2804071" cy="880120"/>
          </a:xfrm>
          <a:prstGeom prst="rect">
            <a:avLst/>
          </a:prstGeom>
          <a:solidFill>
            <a:srgbClr val="121A2E">
              <a:alpha val="450"/>
            </a:srgbClr>
          </a:solidFill>
          <a:ln w="6350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252975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商品管理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SKU / 变体 / 分类树 · AI 描述生成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18471" y="2971800"/>
            <a:ext cx="2804071" cy="880120"/>
          </a:xfrm>
          <a:prstGeom prst="rect">
            <a:avLst/>
          </a:prstGeom>
          <a:solidFill>
            <a:srgbClr val="121A2E">
              <a:alpha val="450"/>
            </a:srgbClr>
          </a:solidFill>
          <a:ln w="6350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5631" y="3063240"/>
            <a:ext cx="252975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订单管理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全状态流转 · 跨平台趋势统计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2804071" cy="880120"/>
          </a:xfrm>
          <a:prstGeom prst="rect">
            <a:avLst/>
          </a:prstGeom>
          <a:solidFill>
            <a:srgbClr val="121A2E">
              <a:alpha val="450"/>
            </a:srgbClr>
          </a:solidFill>
          <a:ln w="6350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252975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客户 CRM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标签 + RFM 五层价值分析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18471" y="3931920"/>
            <a:ext cx="2804071" cy="880120"/>
          </a:xfrm>
          <a:prstGeom prst="rect">
            <a:avLst/>
          </a:prstGeom>
          <a:solidFill>
            <a:srgbClr val="121A2E">
              <a:alpha val="450"/>
            </a:srgbClr>
          </a:solidFill>
          <a:ln w="6350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5631" y="4023360"/>
            <a:ext cx="252975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多平台集成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Shopify / 抖音 / 淘宝 / 京东 / Amazon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92040"/>
            <a:ext cx="2804071" cy="880120"/>
          </a:xfrm>
          <a:prstGeom prst="rect">
            <a:avLst/>
          </a:prstGeom>
          <a:solidFill>
            <a:srgbClr val="121A2E">
              <a:alpha val="450"/>
            </a:srgbClr>
          </a:solidFill>
          <a:ln w="6350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252975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AI 洞察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销售预测 · 营销文案 · SEO 关键词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8471" y="4892040"/>
            <a:ext cx="2804071" cy="880120"/>
          </a:xfrm>
          <a:prstGeom prst="rect">
            <a:avLst/>
          </a:prstGeom>
          <a:solidFill>
            <a:srgbClr val="121A2E">
              <a:alpha val="450"/>
            </a:srgbClr>
          </a:solidFill>
          <a:ln w="6350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5631" y="4983480"/>
            <a:ext cx="252975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企业级安全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JWT + Fernet + bcrypt + 速率限制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17920"/>
            <a:ext cx="6364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100" b="0">
                <a:solidFill>
                  <a:srgbClr val="6E7896"/>
                </a:solidFill>
                <a:latin typeface="Microsoft YaHei"/>
                <a:ea typeface="Microsoft YaHei"/>
              </a:rPr>
              <a:t>20 页面 · 17 UI 组件 · 6 类 ECharts 图表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adva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951415" y="6355080"/>
            <a:ext cx="2194560" cy="457200"/>
          </a:xfrm>
          <a:prstGeom prst="rect">
            <a:avLst/>
          </a:prstGeom>
          <a:solidFill>
            <a:srgbClr val="0B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0B101F">
              <a:alpha val="3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FFC45C"/>
                </a:solidFill>
                <a:latin typeface="Microsoft YaHei"/>
                <a:ea typeface="Microsoft YaHei"/>
              </a:rPr>
              <a:t>◆ 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200" b="1">
                <a:solidFill>
                  <a:srgbClr val="6E7896"/>
                </a:solidFill>
                <a:latin typeface="Microsoft YaHei"/>
                <a:ea typeface="Microsoft YaHei"/>
              </a:rPr>
              <a:t>04 · 竞争优势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5054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4000" b="1">
                <a:solidFill>
                  <a:srgbClr val="F5F8FF"/>
                </a:solidFill>
                <a:latin typeface="Microsoft YaHei"/>
                <a:ea typeface="Microsoft YaHei"/>
              </a:rPr>
              <a:t>轻量 · 全域 · AI 三位一体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822960" cy="54864"/>
          </a:xfrm>
          <a:prstGeom prst="rect">
            <a:avLst/>
          </a:prstGeom>
          <a:solidFill>
            <a:srgbClr val="FFC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6364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FFC45C"/>
                </a:solidFill>
                <a:latin typeface="Microsoft YaHei"/>
                <a:ea typeface="Microsoft YaHei"/>
              </a:rPr>
              <a:t>◆ vs 单平台工具</a:t>
            </a:r>
          </a:p>
          <a:p>
            <a:r>
              <a:rPr sz="1400" b="0">
                <a:solidFill>
                  <a:srgbClr val="F5F8FF"/>
                </a:solidFill>
                <a:latin typeface="Microsoft YaHei"/>
                <a:ea typeface="Microsoft YaHei"/>
              </a:rPr>
              <a:t>覆盖更广，一个后台管 Shopify + 抖音
+ 淘宝 + 京东 + Amazon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6364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FFC45C"/>
                </a:solidFill>
                <a:latin typeface="Microsoft YaHei"/>
                <a:ea typeface="Microsoft YaHei"/>
              </a:rPr>
              <a:t>◆ vs 大型 ERP</a:t>
            </a:r>
          </a:p>
          <a:p>
            <a:r>
              <a:rPr sz="1400" b="0">
                <a:solidFill>
                  <a:srgbClr val="F5F8FF"/>
                </a:solidFill>
                <a:latin typeface="Microsoft YaHei"/>
                <a:ea typeface="Microsoft YaHei"/>
              </a:rPr>
              <a:t>更轻量、更易上手，5 分钟完成
Docker 一键部署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6364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FFC45C"/>
                </a:solidFill>
                <a:latin typeface="Microsoft YaHei"/>
                <a:ea typeface="Microsoft YaHei"/>
              </a:rPr>
              <a:t>◆ 核心壁垒</a:t>
            </a:r>
          </a:p>
          <a:p>
            <a:r>
              <a:rPr sz="1400" b="0">
                <a:solidFill>
                  <a:srgbClr val="F5F8FF"/>
                </a:solidFill>
                <a:latin typeface="Microsoft YaHei"/>
                <a:ea typeface="Microsoft YaHei"/>
              </a:rPr>
              <a:t>AI 能力深度嵌入业务场景，
让每个商家拥有智能助手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6364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100" b="0">
                <a:solidFill>
                  <a:srgbClr val="6E7896"/>
                </a:solidFill>
                <a:latin typeface="Microsoft YaHei"/>
                <a:ea typeface="Microsoft YaHei"/>
              </a:rPr>
              <a:t>聚焦中小商家 (年 GMV 50 万 — 5000 万)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951415" y="6355080"/>
            <a:ext cx="2194560" cy="457200"/>
          </a:xfrm>
          <a:prstGeom prst="rect">
            <a:avLst/>
          </a:prstGeom>
          <a:solidFill>
            <a:srgbClr val="0B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0B101F">
              <a:alpha val="3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◆ 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200" b="1">
                <a:solidFill>
                  <a:srgbClr val="6E7896"/>
                </a:solidFill>
                <a:latin typeface="Microsoft YaHei"/>
                <a:ea typeface="Microsoft YaHei"/>
              </a:rPr>
              <a:t>05 · 商业模式 / 定价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5054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4000" b="1">
                <a:solidFill>
                  <a:srgbClr val="F5F8FF"/>
                </a:solidFill>
                <a:latin typeface="Microsoft YaHei"/>
                <a:ea typeface="Microsoft YaHei"/>
              </a:rPr>
              <a:t>订阅制 SaaS，三档套餐成长陪伴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822960" cy="54864"/>
          </a:xfrm>
          <a:prstGeom prst="rect">
            <a:avLst/>
          </a:prstGeom>
          <a:solidFill>
            <a:srgbClr val="2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1930341" cy="2926080"/>
          </a:xfrm>
          <a:prstGeom prst="rect">
            <a:avLst/>
          </a:prstGeom>
          <a:solidFill>
            <a:srgbClr val="121A2E">
              <a:alpha val="500"/>
            </a:srgbClr>
          </a:solidFill>
          <a:ln w="12700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1930341" cy="109728"/>
          </a:xfrm>
          <a:prstGeom prst="rect">
            <a:avLst/>
          </a:prstGeom>
          <a:solidFill>
            <a:srgbClr val="2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1473141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22E6FF"/>
                </a:solidFill>
                <a:latin typeface="Microsoft YaHei"/>
                <a:ea typeface="Microsoft YaHei"/>
              </a:rPr>
              <a:t>Free</a:t>
            </a:r>
          </a:p>
          <a:p>
            <a:r>
              <a:rPr sz="2800" b="1">
                <a:solidFill>
                  <a:srgbClr val="F5F8FF"/>
                </a:solidFill>
                <a:latin typeface="Microsoft YaHei"/>
                <a:ea typeface="Microsoft YaHei"/>
              </a:rPr>
              <a:t>¥0</a:t>
            </a:r>
          </a:p>
          <a:p>
            <a:r>
              <a:rPr sz="1200" b="0">
                <a:solidFill>
                  <a:srgbClr val="6E7896"/>
                </a:solidFill>
                <a:latin typeface="Microsoft YaHei"/>
                <a:ea typeface="Microsoft YaHei"/>
              </a:rPr>
              <a:t>/月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✓ 基础商品 / 订单管理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✓ 1 个工作空间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✓ 社区支持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4741" y="2971800"/>
            <a:ext cx="1930341" cy="2926080"/>
          </a:xfrm>
          <a:prstGeom prst="rect">
            <a:avLst/>
          </a:prstGeom>
          <a:solidFill>
            <a:srgbClr val="121A2E">
              <a:alpha val="500"/>
            </a:srgbClr>
          </a:solidFill>
          <a:ln w="12700">
            <a:solidFill>
              <a:srgbClr val="A0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44741" y="2971800"/>
            <a:ext cx="1930341" cy="109728"/>
          </a:xfrm>
          <a:prstGeom prst="rect">
            <a:avLst/>
          </a:prstGeom>
          <a:solidFill>
            <a:srgbClr val="A0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3341" y="3246120"/>
            <a:ext cx="1473141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A06BFF"/>
                </a:solidFill>
                <a:latin typeface="Microsoft YaHei"/>
                <a:ea typeface="Microsoft YaHei"/>
              </a:rPr>
              <a:t>Pro</a:t>
            </a:r>
          </a:p>
          <a:p>
            <a:r>
              <a:rPr sz="2800" b="1">
                <a:solidFill>
                  <a:srgbClr val="F5F8FF"/>
                </a:solidFill>
                <a:latin typeface="Microsoft YaHei"/>
                <a:ea typeface="Microsoft YaHei"/>
              </a:rPr>
              <a:t>¥199</a:t>
            </a:r>
          </a:p>
          <a:p>
            <a:r>
              <a:rPr sz="1200" b="0">
                <a:solidFill>
                  <a:srgbClr val="6E7896"/>
                </a:solidFill>
                <a:latin typeface="Microsoft YaHei"/>
                <a:ea typeface="Microsoft YaHei"/>
              </a:rPr>
              <a:t>/月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✓ 全模块功能解锁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✓ 5 个工作空间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✓ AI 洞察 + 多平台集成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✓ 工单优先响应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9402" y="2971800"/>
            <a:ext cx="1930341" cy="2926080"/>
          </a:xfrm>
          <a:prstGeom prst="rect">
            <a:avLst/>
          </a:prstGeom>
          <a:solidFill>
            <a:srgbClr val="121A2E">
              <a:alpha val="500"/>
            </a:srgbClr>
          </a:solidFill>
          <a:ln w="12700">
            <a:solidFill>
              <a:srgbClr val="FFC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9402" y="2971800"/>
            <a:ext cx="1930341" cy="109728"/>
          </a:xfrm>
          <a:prstGeom prst="rect">
            <a:avLst/>
          </a:prstGeom>
          <a:solidFill>
            <a:srgbClr val="FFC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8002" y="3246120"/>
            <a:ext cx="1473141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800" b="1">
                <a:solidFill>
                  <a:srgbClr val="FFC45C"/>
                </a:solidFill>
                <a:latin typeface="Microsoft YaHei"/>
                <a:ea typeface="Microsoft YaHei"/>
              </a:rPr>
              <a:t>Enterprise</a:t>
            </a:r>
          </a:p>
          <a:p>
            <a:r>
              <a:rPr sz="2800" b="1">
                <a:solidFill>
                  <a:srgbClr val="F5F8FF"/>
                </a:solidFill>
                <a:latin typeface="Microsoft YaHei"/>
                <a:ea typeface="Microsoft YaHei"/>
              </a:rPr>
              <a:t>¥699</a:t>
            </a:r>
          </a:p>
          <a:p>
            <a:r>
              <a:rPr sz="1200" b="0">
                <a:solidFill>
                  <a:srgbClr val="6E7896"/>
                </a:solidFill>
                <a:latin typeface="Microsoft YaHei"/>
                <a:ea typeface="Microsoft YaHei"/>
              </a:rPr>
              <a:t>/月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✓ 无限工作空间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✓ 专属客户经理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✓ API / 插件扩展</a:t>
            </a:r>
          </a:p>
          <a:p>
            <a:r>
              <a:rPr sz="1100" b="0">
                <a:solidFill>
                  <a:srgbClr val="F5F8FF"/>
                </a:solidFill>
                <a:latin typeface="Microsoft YaHei"/>
                <a:ea typeface="Microsoft YaHei"/>
              </a:rPr>
              <a:t>✓ SLA 99.9%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17920"/>
            <a:ext cx="6364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100" b="0">
                <a:solidFill>
                  <a:srgbClr val="6E7896"/>
                </a:solidFill>
                <a:latin typeface="Microsoft YaHei"/>
                <a:ea typeface="Microsoft YaHei"/>
              </a:rPr>
              <a:t>低门槛获客 → 数据沉淀 → 套餐升级 · 增长飞轮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951415" y="6355080"/>
            <a:ext cx="2194560" cy="457200"/>
          </a:xfrm>
          <a:prstGeom prst="rect">
            <a:avLst/>
          </a:prstGeom>
          <a:solidFill>
            <a:srgbClr val="0B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0B101F">
              <a:alpha val="3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◆ 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200" b="1">
                <a:solidFill>
                  <a:srgbClr val="6E7896"/>
                </a:solidFill>
                <a:latin typeface="Microsoft YaHei"/>
                <a:ea typeface="Microsoft YaHei"/>
              </a:rPr>
              <a:t>06 · 现在就开始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5054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4000" b="1">
                <a:solidFill>
                  <a:srgbClr val="F5F8FF"/>
                </a:solidFill>
                <a:latin typeface="Microsoft YaHei"/>
                <a:ea typeface="Microsoft YaHei"/>
              </a:rPr>
              <a:t>欢迎共建下一代电商中台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822960" cy="54864"/>
          </a:xfrm>
          <a:prstGeom prst="rect">
            <a:avLst/>
          </a:prstGeom>
          <a:solidFill>
            <a:srgbClr val="2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63640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2400" b="1">
                <a:solidFill>
                  <a:srgbClr val="22E6FF"/>
                </a:solidFill>
                <a:latin typeface="Microsoft YaHei"/>
                <a:ea typeface="Microsoft YaHei"/>
              </a:rPr>
              <a:t>Demo · 合作 · 投资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65054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▍ 在线体验</a:t>
            </a:r>
          </a:p>
          <a:p>
            <a:r>
              <a:rPr sz="1200" b="0">
                <a:solidFill>
                  <a:srgbClr val="F5F8FF"/>
                </a:solidFill>
                <a:latin typeface="Microsoft YaHei"/>
                <a:ea typeface="Microsoft YaHei"/>
              </a:rPr>
              <a:t>demo.nexora.com  ·  demo@nexora.com / Demo1234!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65054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▍ 开源仓库</a:t>
            </a:r>
          </a:p>
          <a:p>
            <a:r>
              <a:rPr sz="1200" b="0">
                <a:solidFill>
                  <a:srgbClr val="F5F8FF"/>
                </a:solidFill>
                <a:latin typeface="Microsoft YaHei"/>
                <a:ea typeface="Microsoft YaHei"/>
              </a:rPr>
              <a:t>github.com/lihaoqi-13656117061/nexora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65054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▍ 一键部署</a:t>
            </a:r>
          </a:p>
          <a:p>
            <a:r>
              <a:rPr sz="1200" b="0">
                <a:solidFill>
                  <a:srgbClr val="F5F8FF"/>
                </a:solidFill>
                <a:latin typeface="Microsoft YaHei"/>
                <a:ea typeface="Microsoft YaHei"/>
              </a:rPr>
              <a:t>bash deploy.sh  →  localhost:3000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59"/>
            <a:ext cx="65054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400" b="1">
                <a:solidFill>
                  <a:srgbClr val="22E6FF"/>
                </a:solidFill>
                <a:latin typeface="Microsoft YaHei"/>
                <a:ea typeface="Microsoft YaHei"/>
              </a:rPr>
              <a:t>▍ 商务联系</a:t>
            </a:r>
          </a:p>
          <a:p>
            <a:r>
              <a:rPr sz="1200" b="0">
                <a:solidFill>
                  <a:srgbClr val="F5F8FF"/>
                </a:solidFill>
                <a:latin typeface="Microsoft YaHei"/>
                <a:ea typeface="Microsoft YaHei"/>
              </a:rPr>
              <a:t>李浩棋 ·  13656117061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63640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r>
              <a:rPr sz="1100" b="0">
                <a:solidFill>
                  <a:srgbClr val="6E7896"/>
                </a:solidFill>
                <a:latin typeface="Microsoft YaHei"/>
                <a:ea typeface="Microsoft YaHei"/>
              </a:rPr>
              <a:t>感谢聆听 · 期待与您共创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